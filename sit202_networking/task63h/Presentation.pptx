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4"/>
  </p:sldMasterIdLst>
  <p:sldIdLst>
    <p:sldId id="290" r:id="rId5"/>
    <p:sldId id="293" r:id="rId6"/>
    <p:sldId id="278" r:id="rId7"/>
    <p:sldId id="286" r:id="rId8"/>
    <p:sldId id="269" r:id="rId9"/>
    <p:sldId id="287" r:id="rId10"/>
    <p:sldId id="271" r:id="rId11"/>
    <p:sldId id="281" r:id="rId12"/>
    <p:sldId id="282" r:id="rId13"/>
    <p:sldId id="292" r:id="rId14"/>
    <p:sldId id="275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4" autoAdjust="0"/>
    <p:restoredTop sz="94647"/>
  </p:normalViewPr>
  <p:slideViewPr>
    <p:cSldViewPr snapToGrid="0" snapToObjects="1">
      <p:cViewPr varScale="1">
        <p:scale>
          <a:sx n="109" d="100"/>
          <a:sy n="109" d="100"/>
        </p:scale>
        <p:origin x="13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Round trips before first byte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Round trips (RTT)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TCP + TLS 1.2</c:v>
              </c:pt>
              <c:pt idx="1">
                <c:v>TCP + TLS 1.3</c:v>
              </c:pt>
              <c:pt idx="2">
                <c:v>QUIC first connection</c:v>
              </c:pt>
              <c:pt idx="3">
                <c:v>QUIC resumed (0-RTT)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2</c:v>
              </c:pt>
              <c:pt idx="2">
                <c:v>1</c:v>
              </c:pt>
              <c:pt idx="3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F789-41F6-875E-EABACADAA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"/>
          <c:min val="0"/>
        </c:scaling>
        <c:delete val="0"/>
        <c:axPos val="t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79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991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9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26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8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8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95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996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5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589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79050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573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981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140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61154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24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29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87517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116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84285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7366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7231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09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718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19014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938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359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78011A-A027-DD12-E070-333B36ACF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6600" y="1905000"/>
            <a:ext cx="5994400" cy="2133600"/>
          </a:xfrm>
        </p:spPr>
        <p:txBody>
          <a:bodyPr/>
          <a:lstStyle/>
          <a:p>
            <a:pPr algn="l"/>
            <a:r>
              <a:rPr lang="en-US" sz="3200" dirty="0">
                <a:solidFill>
                  <a:srgbClr val="FFFFFF"/>
                </a:solidFill>
              </a:rPr>
              <a:t>QUIC: A UDP-Based Multiplexed and Secure Transport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FFAA20-2A6B-7B08-36FC-4F59DD7EC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6600" y="4191000"/>
            <a:ext cx="5994400" cy="16002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Design, security, scalability, and a Wireshark demo</a:t>
            </a:r>
          </a:p>
          <a:p>
            <a:pPr algn="l">
              <a:buNone/>
            </a:pPr>
            <a:r>
              <a:rPr lang="en-US" sz="1500" dirty="0">
                <a:solidFill>
                  <a:srgbClr val="FFFFFF"/>
                </a:solidFill>
              </a:rPr>
              <a:t>SIT202, Computer Networks and Communication</a:t>
            </a:r>
          </a:p>
          <a:p>
            <a:pPr algn="l">
              <a:buNone/>
            </a:pPr>
            <a:r>
              <a:rPr lang="en-US" sz="1500" dirty="0" err="1">
                <a:solidFill>
                  <a:srgbClr val="FFFFFF"/>
                </a:solidFill>
              </a:rPr>
              <a:t>Hirusha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Adikari</a:t>
            </a:r>
            <a:r>
              <a:rPr lang="en-US" sz="1500" dirty="0">
                <a:solidFill>
                  <a:srgbClr val="FFFFFF"/>
                </a:solidFill>
              </a:rPr>
              <a:t> / 225555137</a:t>
            </a:r>
          </a:p>
        </p:txBody>
      </p:sp>
    </p:spTree>
    <p:extLst>
      <p:ext uri="{BB962C8B-B14F-4D97-AF65-F5344CB8AC3E}">
        <p14:creationId xmlns:p14="http://schemas.microsoft.com/office/powerpoint/2010/main" val="400976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15D9-57B5-DDB5-945F-C5E8348D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Why do we need QUIC?</a:t>
            </a:r>
          </a:p>
        </p:txBody>
      </p:sp>
      <p:sp>
        <p:nvSpPr>
          <p:cNvPr id="100" name="Card 100"/>
          <p:cNvSpPr/>
          <p:nvPr/>
        </p:nvSpPr>
        <p:spPr>
          <a:xfrm>
            <a:off x="419100" y="2184400"/>
            <a:ext cx="5461000" cy="1016000"/>
          </a:xfrm>
          <a:prstGeom prst="roundRect">
            <a:avLst>
              <a:gd name="adj" fmla="val 7000"/>
            </a:avLst>
          </a:prstGeom>
          <a:solidFill>
            <a:srgbClr val="F9EFEC"/>
          </a:solidFill>
          <a:ln>
            <a:noFill/>
          </a:ln>
        </p:spPr>
        <p:txBody>
          <a:bodyPr lIns="171450" tIns="114300" rIns="171450" bIns="1143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B49B2"/>
                </a:solidFill>
              </a:rPr>
              <a:t>1  </a:t>
            </a:r>
            <a:r>
              <a:rPr lang="en-US" sz="1600" b="1" dirty="0">
                <a:solidFill>
                  <a:srgbClr val="09090C"/>
                </a:solidFill>
              </a:rPr>
              <a:t>Slow setup</a:t>
            </a:r>
          </a:p>
          <a:p>
            <a:pPr algn="l">
              <a:buNone/>
            </a:pPr>
            <a:r>
              <a:rPr lang="en-US" sz="1400" dirty="0">
                <a:solidFill>
                  <a:srgbClr val="3A3A40"/>
                </a:solidFill>
              </a:rPr>
              <a:t>TCP plus TLS costs 2 round trips before any data moves</a:t>
            </a:r>
          </a:p>
        </p:txBody>
      </p:sp>
      <p:sp>
        <p:nvSpPr>
          <p:cNvPr id="101" name="Card 101"/>
          <p:cNvSpPr/>
          <p:nvPr/>
        </p:nvSpPr>
        <p:spPr>
          <a:xfrm>
            <a:off x="419100" y="3302000"/>
            <a:ext cx="5461000" cy="1016000"/>
          </a:xfrm>
          <a:prstGeom prst="roundRect">
            <a:avLst>
              <a:gd name="adj" fmla="val 7000"/>
            </a:avLst>
          </a:prstGeom>
          <a:solidFill>
            <a:srgbClr val="F9EFEC"/>
          </a:solidFill>
          <a:ln>
            <a:noFill/>
          </a:ln>
        </p:spPr>
        <p:txBody>
          <a:bodyPr lIns="171450" tIns="114300" rIns="171450" bIns="1143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B49B2"/>
                </a:solidFill>
              </a:rPr>
              <a:t>2  </a:t>
            </a:r>
            <a:r>
              <a:rPr lang="en-US" sz="1600" b="1" dirty="0">
                <a:solidFill>
                  <a:srgbClr val="09090C"/>
                </a:solidFill>
              </a:rPr>
              <a:t>Head of line blocking</a:t>
            </a:r>
          </a:p>
          <a:p>
            <a:pPr algn="l">
              <a:buNone/>
            </a:pPr>
            <a:r>
              <a:rPr lang="en-US" sz="1400" dirty="0">
                <a:solidFill>
                  <a:srgbClr val="3A3A40"/>
                </a:solidFill>
              </a:rPr>
              <a:t>One lost packet stalls every multiplexed request</a:t>
            </a:r>
          </a:p>
        </p:txBody>
      </p:sp>
      <p:sp>
        <p:nvSpPr>
          <p:cNvPr id="102" name="Card 102"/>
          <p:cNvSpPr/>
          <p:nvPr/>
        </p:nvSpPr>
        <p:spPr>
          <a:xfrm>
            <a:off x="419100" y="4419600"/>
            <a:ext cx="5461000" cy="1016000"/>
          </a:xfrm>
          <a:prstGeom prst="roundRect">
            <a:avLst>
              <a:gd name="adj" fmla="val 7000"/>
            </a:avLst>
          </a:prstGeom>
          <a:solidFill>
            <a:srgbClr val="F9EFEC"/>
          </a:solidFill>
          <a:ln>
            <a:noFill/>
          </a:ln>
        </p:spPr>
        <p:txBody>
          <a:bodyPr lIns="171450" tIns="114300" rIns="171450" bIns="1143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B49B2"/>
                </a:solidFill>
              </a:rPr>
              <a:t>3  </a:t>
            </a:r>
            <a:r>
              <a:rPr lang="en-US" sz="1600" b="1" dirty="0">
                <a:solidFill>
                  <a:srgbClr val="09090C"/>
                </a:solidFill>
              </a:rPr>
              <a:t>Breaks on IP change</a:t>
            </a:r>
          </a:p>
          <a:p>
            <a:pPr algn="l">
              <a:buNone/>
            </a:pPr>
            <a:r>
              <a:rPr lang="en-US" sz="1400" dirty="0">
                <a:solidFill>
                  <a:srgbClr val="3A3A40"/>
                </a:solidFill>
              </a:rPr>
              <a:t>Switching networks kills every TCP connection</a:t>
            </a:r>
          </a:p>
        </p:txBody>
      </p:sp>
      <p:sp>
        <p:nvSpPr>
          <p:cNvPr id="103" name="Card 103"/>
          <p:cNvSpPr/>
          <p:nvPr/>
        </p:nvSpPr>
        <p:spPr>
          <a:xfrm>
            <a:off x="419100" y="5537200"/>
            <a:ext cx="5461000" cy="1016000"/>
          </a:xfrm>
          <a:prstGeom prst="roundRect">
            <a:avLst>
              <a:gd name="adj" fmla="val 7000"/>
            </a:avLst>
          </a:prstGeom>
          <a:solidFill>
            <a:srgbClr val="F9EFEC"/>
          </a:solidFill>
          <a:ln>
            <a:noFill/>
          </a:ln>
        </p:spPr>
        <p:txBody>
          <a:bodyPr lIns="171450" tIns="114300" rIns="171450" bIns="11430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B49B2"/>
                </a:solidFill>
              </a:rPr>
              <a:t>4  </a:t>
            </a:r>
            <a:r>
              <a:rPr lang="en-US" sz="1600" b="1" dirty="0">
                <a:solidFill>
                  <a:srgbClr val="09090C"/>
                </a:solidFill>
              </a:rPr>
              <a:t>Can't evolve</a:t>
            </a:r>
          </a:p>
          <a:p>
            <a:pPr algn="l">
              <a:buNone/>
            </a:pPr>
            <a:r>
              <a:rPr lang="en-US" sz="1400" dirty="0">
                <a:solidFill>
                  <a:srgbClr val="3A3A40"/>
                </a:solidFill>
              </a:rPr>
              <a:t>Middleboxes assume TCP never changes</a:t>
            </a:r>
          </a:p>
        </p:txBody>
      </p:sp>
      <p:graphicFrame>
        <p:nvGraphicFramePr>
          <p:cNvPr id="200" name="RTT Chart"/>
          <p:cNvGraphicFramePr/>
          <p:nvPr/>
        </p:nvGraphicFramePr>
        <p:xfrm>
          <a:off x="6184900" y="2184400"/>
          <a:ext cx="55880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568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E64B-D0B9-35A4-4007-B24A8E67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What is QUIC?</a:t>
            </a:r>
          </a:p>
        </p:txBody>
      </p:sp>
      <p:sp>
        <p:nvSpPr>
          <p:cNvPr id="100" name="Box"/>
          <p:cNvSpPr/>
          <p:nvPr/>
        </p:nvSpPr>
        <p:spPr>
          <a:xfrm>
            <a:off x="419100" y="2032000"/>
            <a:ext cx="11353800" cy="38100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l">
              <a:buNone/>
            </a:pPr>
            <a:r>
              <a:rPr lang="en-US" sz="1600" b="0" dirty="0">
                <a:solidFill>
                  <a:srgbClr val="F9EFEC"/>
                </a:solidFill>
              </a:rPr>
              <a:t>Standardised by the IETF as RFC 9000 in 2021. It runs on UDP and lives inside the application instead of the OS.</a:t>
            </a:r>
          </a:p>
        </p:txBody>
      </p:sp>
      <p:sp>
        <p:nvSpPr>
          <p:cNvPr id="101" name="Box"/>
          <p:cNvSpPr/>
          <p:nvPr/>
        </p:nvSpPr>
        <p:spPr>
          <a:xfrm>
            <a:off x="419100" y="2565400"/>
            <a:ext cx="5080000" cy="33020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lIns="114300" tIns="57150" rIns="114300" bIns="57150" anchor="ctr">
            <a:normAutofit fontScale="85000" lnSpcReduction="20000"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9EFEC"/>
                </a:solidFill>
              </a:rPr>
              <a:t>Traditional HTTPS</a:t>
            </a:r>
          </a:p>
        </p:txBody>
      </p:sp>
      <p:sp>
        <p:nvSpPr>
          <p:cNvPr id="102" name="Box"/>
          <p:cNvSpPr/>
          <p:nvPr/>
        </p:nvSpPr>
        <p:spPr>
          <a:xfrm>
            <a:off x="6273800" y="2565400"/>
            <a:ext cx="5080000" cy="330200"/>
          </a:xfrm>
          <a:prstGeom prst="roundRect">
            <a:avLst>
              <a:gd name="adj" fmla="val 7000"/>
            </a:avLst>
          </a:prstGeom>
          <a:noFill/>
          <a:ln>
            <a:noFill/>
          </a:ln>
        </p:spPr>
        <p:txBody>
          <a:bodyPr lIns="114300" tIns="57150" rIns="114300" bIns="57150" anchor="ctr">
            <a:normAutofit fontScale="85000" lnSpcReduction="20000"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CB49B2"/>
                </a:solidFill>
              </a:rPr>
              <a:t>QUIC (HTTP/3)</a:t>
            </a:r>
          </a:p>
        </p:txBody>
      </p:sp>
      <p:sp>
        <p:nvSpPr>
          <p:cNvPr id="103" name="Box"/>
          <p:cNvSpPr/>
          <p:nvPr/>
        </p:nvSpPr>
        <p:spPr>
          <a:xfrm>
            <a:off x="419100" y="2971800"/>
            <a:ext cx="5080000" cy="584200"/>
          </a:xfrm>
          <a:prstGeom prst="rect">
            <a:avLst/>
          </a:prstGeom>
          <a:solidFill>
            <a:srgbClr val="F9EFEC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HTTP/2</a:t>
            </a:r>
          </a:p>
        </p:txBody>
      </p:sp>
      <p:sp>
        <p:nvSpPr>
          <p:cNvPr id="104" name="Box"/>
          <p:cNvSpPr/>
          <p:nvPr/>
        </p:nvSpPr>
        <p:spPr>
          <a:xfrm>
            <a:off x="419100" y="3632200"/>
            <a:ext cx="5080000" cy="584200"/>
          </a:xfrm>
          <a:prstGeom prst="rect">
            <a:avLst/>
          </a:prstGeom>
          <a:solidFill>
            <a:srgbClr val="F9EFEC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TLS 1.3</a:t>
            </a:r>
          </a:p>
        </p:txBody>
      </p:sp>
      <p:sp>
        <p:nvSpPr>
          <p:cNvPr id="105" name="Box"/>
          <p:cNvSpPr/>
          <p:nvPr/>
        </p:nvSpPr>
        <p:spPr>
          <a:xfrm>
            <a:off x="419100" y="4292600"/>
            <a:ext cx="5080000" cy="584200"/>
          </a:xfrm>
          <a:prstGeom prst="rect">
            <a:avLst/>
          </a:prstGeom>
          <a:solidFill>
            <a:srgbClr val="F9EFEC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TCP</a:t>
            </a:r>
          </a:p>
        </p:txBody>
      </p:sp>
      <p:sp>
        <p:nvSpPr>
          <p:cNvPr id="106" name="Box"/>
          <p:cNvSpPr/>
          <p:nvPr/>
        </p:nvSpPr>
        <p:spPr>
          <a:xfrm>
            <a:off x="419100" y="4953000"/>
            <a:ext cx="5080000" cy="584200"/>
          </a:xfrm>
          <a:prstGeom prst="rect">
            <a:avLst/>
          </a:prstGeom>
          <a:solidFill>
            <a:srgbClr val="F9EFEC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IP</a:t>
            </a:r>
          </a:p>
        </p:txBody>
      </p:sp>
      <p:sp>
        <p:nvSpPr>
          <p:cNvPr id="107" name="Box"/>
          <p:cNvSpPr/>
          <p:nvPr/>
        </p:nvSpPr>
        <p:spPr>
          <a:xfrm>
            <a:off x="6273800" y="2971800"/>
            <a:ext cx="5080000" cy="584200"/>
          </a:xfrm>
          <a:prstGeom prst="rect">
            <a:avLst/>
          </a:prstGeom>
          <a:solidFill>
            <a:srgbClr val="CB49B2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HTTP/3</a:t>
            </a:r>
          </a:p>
        </p:txBody>
      </p:sp>
      <p:sp>
        <p:nvSpPr>
          <p:cNvPr id="108" name="Box"/>
          <p:cNvSpPr/>
          <p:nvPr/>
        </p:nvSpPr>
        <p:spPr>
          <a:xfrm>
            <a:off x="6273800" y="3632200"/>
            <a:ext cx="5080000" cy="584200"/>
          </a:xfrm>
          <a:prstGeom prst="rect">
            <a:avLst/>
          </a:prstGeom>
          <a:solidFill>
            <a:srgbClr val="CB49B2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QUIC (TLS 1.3 built in)</a:t>
            </a:r>
          </a:p>
        </p:txBody>
      </p:sp>
      <p:sp>
        <p:nvSpPr>
          <p:cNvPr id="109" name="Box"/>
          <p:cNvSpPr/>
          <p:nvPr/>
        </p:nvSpPr>
        <p:spPr>
          <a:xfrm>
            <a:off x="6273800" y="4292600"/>
            <a:ext cx="5080000" cy="584200"/>
          </a:xfrm>
          <a:prstGeom prst="rect">
            <a:avLst/>
          </a:prstGeom>
          <a:solidFill>
            <a:srgbClr val="F9EFEC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UDP</a:t>
            </a:r>
          </a:p>
        </p:txBody>
      </p:sp>
      <p:sp>
        <p:nvSpPr>
          <p:cNvPr id="110" name="Box"/>
          <p:cNvSpPr/>
          <p:nvPr/>
        </p:nvSpPr>
        <p:spPr>
          <a:xfrm>
            <a:off x="6273800" y="4953000"/>
            <a:ext cx="5080000" cy="584200"/>
          </a:xfrm>
          <a:prstGeom prst="rect">
            <a:avLst/>
          </a:prstGeom>
          <a:solidFill>
            <a:srgbClr val="F9EFEC"/>
          </a:solidFill>
          <a:ln>
            <a:noFill/>
          </a:ln>
        </p:spPr>
        <p:txBody>
          <a:bodyPr lIns="114300" tIns="57150" rIns="114300" bIns="57150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9090C"/>
                </a:solidFill>
              </a:rPr>
              <a:t>IP</a:t>
            </a:r>
          </a:p>
        </p:txBody>
      </p:sp>
      <p:sp>
        <p:nvSpPr>
          <p:cNvPr id="111" name="Box"/>
          <p:cNvSpPr/>
          <p:nvPr/>
        </p:nvSpPr>
        <p:spPr>
          <a:xfrm>
            <a:off x="419100" y="5689600"/>
            <a:ext cx="3695700" cy="7874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55555F"/>
            </a:solidFill>
          </a:ln>
        </p:spPr>
        <p:txBody>
          <a:bodyPr lIns="114300" tIns="76200" rIns="114300" bIns="5715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User space</a:t>
            </a:r>
          </a:p>
          <a:p>
            <a:pPr algn="l">
              <a:buNone/>
            </a:pPr>
            <a:r>
              <a:rPr lang="en-US" sz="1400" b="0" dirty="0">
                <a:solidFill>
                  <a:srgbClr val="F9EFEC"/>
                </a:solidFill>
              </a:rPr>
              <a:t>Ships with the app, so it updates fast.</a:t>
            </a:r>
          </a:p>
        </p:txBody>
      </p:sp>
      <p:sp>
        <p:nvSpPr>
          <p:cNvPr id="112" name="Box"/>
          <p:cNvSpPr/>
          <p:nvPr/>
        </p:nvSpPr>
        <p:spPr>
          <a:xfrm>
            <a:off x="4241800" y="5689600"/>
            <a:ext cx="3695700" cy="7874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55555F"/>
            </a:solidFill>
          </a:ln>
        </p:spPr>
        <p:txBody>
          <a:bodyPr lIns="114300" tIns="76200" rIns="114300" bIns="57150" anchor="t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Connection ID</a:t>
            </a:r>
          </a:p>
          <a:p>
            <a:pPr algn="l">
              <a:buNone/>
            </a:pPr>
            <a:r>
              <a:rPr lang="en-US" sz="1400" b="0" dirty="0">
                <a:solidFill>
                  <a:srgbClr val="F9EFEC"/>
                </a:solidFill>
              </a:rPr>
              <a:t>Not tied to IP and port, so it survives network changes.</a:t>
            </a:r>
          </a:p>
        </p:txBody>
      </p:sp>
      <p:sp>
        <p:nvSpPr>
          <p:cNvPr id="113" name="Box"/>
          <p:cNvSpPr/>
          <p:nvPr/>
        </p:nvSpPr>
        <p:spPr>
          <a:xfrm>
            <a:off x="8064500" y="5689600"/>
            <a:ext cx="3695700" cy="7874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55555F"/>
            </a:solidFill>
          </a:ln>
        </p:spPr>
        <p:txBody>
          <a:bodyPr lIns="114300" tIns="76200" rIns="114300" bIns="5715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Always encrypted</a:t>
            </a:r>
          </a:p>
          <a:p>
            <a:pPr algn="l">
              <a:buNone/>
            </a:pPr>
            <a:r>
              <a:rPr lang="en-US" sz="1400" b="0" dirty="0">
                <a:solidFill>
                  <a:srgbClr val="F9EFEC"/>
                </a:solidFill>
              </a:rPr>
              <a:t>Encryption is mandatory, not optional.</a:t>
            </a:r>
          </a:p>
        </p:txBody>
      </p:sp>
    </p:spTree>
    <p:extLst>
      <p:ext uri="{BB962C8B-B14F-4D97-AF65-F5344CB8AC3E}">
        <p14:creationId xmlns:p14="http://schemas.microsoft.com/office/powerpoint/2010/main" val="99628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4BC2-A96C-1252-DF82-22CF1C61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Packets and frames</a:t>
            </a:r>
          </a:p>
        </p:txBody>
      </p:sp>
      <p:sp>
        <p:nvSpPr>
          <p:cNvPr id="100" name="Box"/>
          <p:cNvSpPr/>
          <p:nvPr/>
        </p:nvSpPr>
        <p:spPr>
          <a:xfrm>
            <a:off x="419100" y="2133600"/>
            <a:ext cx="5461000" cy="26416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71450" tIns="152400" rIns="171450" bIns="15240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CB49B2"/>
                </a:solidFill>
              </a:rPr>
              <a:t>Long header</a:t>
            </a:r>
          </a:p>
          <a:p>
            <a:pPr algn="l">
              <a:buNone/>
            </a:pPr>
            <a:r>
              <a:rPr lang="en-US" sz="1400" b="0" dirty="0">
                <a:solidFill>
                  <a:srgbClr val="55555F"/>
                </a:solidFill>
              </a:rPr>
              <a:t>Used only during setup</a:t>
            </a:r>
          </a:p>
          <a:p>
            <a:pPr algn="l">
              <a:buNone/>
            </a:pPr>
            <a:endParaRPr lang="en-US" sz="1500" b="0" dirty="0">
              <a:solidFill>
                <a:srgbClr val="09090C"/>
              </a:solidFill>
            </a:endParaRP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Header form = 1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Packet type: Initial, 0-RTT, Handshake, Retry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Version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Destination Connection ID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Source Connection ID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Encrypted payload</a:t>
            </a:r>
          </a:p>
        </p:txBody>
      </p:sp>
      <p:sp>
        <p:nvSpPr>
          <p:cNvPr id="101" name="Box"/>
          <p:cNvSpPr/>
          <p:nvPr/>
        </p:nvSpPr>
        <p:spPr>
          <a:xfrm>
            <a:off x="6311900" y="2133600"/>
            <a:ext cx="5461000" cy="26416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71450" tIns="152400" rIns="171450" bIns="152400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E95D48"/>
                </a:solidFill>
              </a:rPr>
              <a:t>Short header</a:t>
            </a:r>
          </a:p>
          <a:p>
            <a:pPr algn="l">
              <a:buNone/>
            </a:pPr>
            <a:r>
              <a:rPr lang="en-US" sz="1400" b="0" dirty="0">
                <a:solidFill>
                  <a:srgbClr val="55555F"/>
                </a:solidFill>
              </a:rPr>
              <a:t>Used after the handshake</a:t>
            </a:r>
          </a:p>
          <a:p>
            <a:pPr algn="l">
              <a:buNone/>
            </a:pPr>
            <a:endParaRPr lang="en-US" sz="1500" b="0" dirty="0">
              <a:solidFill>
                <a:srgbClr val="09090C"/>
              </a:solidFill>
            </a:endParaRP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Header form = 0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Destination Connection ID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Encrypted packet number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Protected payload</a:t>
            </a:r>
          </a:p>
          <a:p>
            <a:pPr algn="l">
              <a:buNone/>
            </a:pPr>
            <a:r>
              <a:rPr lang="en-US" sz="1500" b="0" dirty="0">
                <a:solidFill>
                  <a:srgbClr val="09090C"/>
                </a:solidFill>
              </a:rPr>
              <a:t>No version, no source ID, no length field</a:t>
            </a:r>
          </a:p>
        </p:txBody>
      </p:sp>
      <p:sp>
        <p:nvSpPr>
          <p:cNvPr id="102" name="Box"/>
          <p:cNvSpPr/>
          <p:nvPr/>
        </p:nvSpPr>
        <p:spPr>
          <a:xfrm>
            <a:off x="419100" y="5080000"/>
            <a:ext cx="11353800" cy="1016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55555F"/>
            </a:solidFill>
          </a:ln>
        </p:spPr>
        <p:txBody>
          <a:bodyPr lIns="228600" tIns="152400" rIns="228600" bIns="152400" anchor="ctr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F9EFEC"/>
                </a:solidFill>
              </a:rPr>
              <a:t>A datagram holds packets, and packets hold frames. Frames carry the control logic that TCP puts in header flags, but they sit inside the encrypted part.</a:t>
            </a:r>
          </a:p>
        </p:txBody>
      </p:sp>
    </p:spTree>
    <p:extLst>
      <p:ext uri="{BB962C8B-B14F-4D97-AF65-F5344CB8AC3E}">
        <p14:creationId xmlns:p14="http://schemas.microsoft.com/office/powerpoint/2010/main" val="74480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A84E-9FCE-6EA8-F994-4982D0CA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Key frame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9CAFD6-D66A-4D9D-AE04-0346F6236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742120"/>
              </p:ext>
            </p:extLst>
          </p:nvPr>
        </p:nvGraphicFramePr>
        <p:xfrm>
          <a:off x="419100" y="2184400"/>
          <a:ext cx="11353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564192807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344563721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Frame type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3360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 dirty="0">
                          <a:solidFill>
                            <a:srgbClr val="09090C"/>
                          </a:solidFill>
                          <a:latin typeface="Neue Haas Grotesk Text Pro"/>
                        </a:rPr>
                        <a:t>CRYPTO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Carries the TLS handshake data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09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STREAM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Carries application data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419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ACK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Acknowledges received packets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2933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PADDING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Fills packets to the required minimum size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9271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MAX_DATA / MAX_STREAM_DATA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Flow control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430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NEW_CONNECTION_ID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Supplies spare IDs for migration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66054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PATH_CHALLENGE / PATH_RESPONSE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Validates a new network path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6966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AU" sz="16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HANDSHAKE_DONE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600" b="0" dirty="0">
                          <a:solidFill>
                            <a:srgbClr val="09090C"/>
                          </a:solidFill>
                          <a:latin typeface="Neue Haas Grotesk Text Pro"/>
                        </a:rPr>
                        <a:t>Server confirms setup is finished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11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6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91F3-F5FB-ACE8-90E6-4F7ED18A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Cryptographic mechanisms</a:t>
            </a:r>
          </a:p>
        </p:txBody>
      </p:sp>
      <p:sp>
        <p:nvSpPr>
          <p:cNvPr id="100" name="Box"/>
          <p:cNvSpPr/>
          <p:nvPr/>
        </p:nvSpPr>
        <p:spPr>
          <a:xfrm>
            <a:off x="419100" y="2057400"/>
            <a:ext cx="1135380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0" tIns="0" rIns="152400" bIns="0" anchor="ctr"/>
          <a:lstStyle/>
          <a:p>
            <a:pPr algn="l">
              <a:buNone/>
            </a:pPr>
            <a:r>
              <a:rPr lang="en-US" sz="1600" b="0" dirty="0">
                <a:solidFill>
                  <a:srgbClr val="F9EFEC"/>
                </a:solidFill>
              </a:rPr>
              <a:t>RFC 9001. TLS 1.3 is built into the handshake instead of layered on top.</a:t>
            </a:r>
          </a:p>
        </p:txBody>
      </p:sp>
      <p:sp>
        <p:nvSpPr>
          <p:cNvPr id="101" name="Box"/>
          <p:cNvSpPr/>
          <p:nvPr/>
        </p:nvSpPr>
        <p:spPr>
          <a:xfrm>
            <a:off x="419100" y="2616200"/>
            <a:ext cx="3683000" cy="11684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B49B2"/>
                </a:solidFill>
              </a:rPr>
              <a:t>Key exchange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TLS 1.3 handshake carried in CRYPTO frames</a:t>
            </a:r>
          </a:p>
        </p:txBody>
      </p:sp>
      <p:sp>
        <p:nvSpPr>
          <p:cNvPr id="102" name="Box"/>
          <p:cNvSpPr/>
          <p:nvPr/>
        </p:nvSpPr>
        <p:spPr>
          <a:xfrm>
            <a:off x="4254500" y="2616200"/>
            <a:ext cx="3683000" cy="11684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B49B2"/>
                </a:solidFill>
              </a:rPr>
              <a:t>Authentication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Server X.509 certificate, same as HTTPS</a:t>
            </a:r>
          </a:p>
        </p:txBody>
      </p:sp>
      <p:sp>
        <p:nvSpPr>
          <p:cNvPr id="103" name="Box"/>
          <p:cNvSpPr/>
          <p:nvPr/>
        </p:nvSpPr>
        <p:spPr>
          <a:xfrm>
            <a:off x="8089900" y="2616200"/>
            <a:ext cx="3683000" cy="11684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7C3191"/>
                </a:solidFill>
              </a:rPr>
              <a:t>Confidentiality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Every packet AEAD encrypted, AES-GCM or ChaCha20</a:t>
            </a:r>
          </a:p>
        </p:txBody>
      </p:sp>
      <p:sp>
        <p:nvSpPr>
          <p:cNvPr id="104" name="Box"/>
          <p:cNvSpPr/>
          <p:nvPr/>
        </p:nvSpPr>
        <p:spPr>
          <a:xfrm>
            <a:off x="419100" y="3911600"/>
            <a:ext cx="3683000" cy="11684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7C3191"/>
                </a:solidFill>
              </a:rPr>
              <a:t>Integrity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16 byte auth tag detects any tampering</a:t>
            </a:r>
          </a:p>
        </p:txBody>
      </p:sp>
      <p:sp>
        <p:nvSpPr>
          <p:cNvPr id="105" name="Box"/>
          <p:cNvSpPr/>
          <p:nvPr/>
        </p:nvSpPr>
        <p:spPr>
          <a:xfrm>
            <a:off x="4254500" y="3911600"/>
            <a:ext cx="3683000" cy="11684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E95D48"/>
                </a:solidFill>
              </a:rPr>
              <a:t>Header protection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A second layer hides the packet number</a:t>
            </a:r>
          </a:p>
        </p:txBody>
      </p:sp>
      <p:sp>
        <p:nvSpPr>
          <p:cNvPr id="106" name="Box"/>
          <p:cNvSpPr/>
          <p:nvPr/>
        </p:nvSpPr>
        <p:spPr>
          <a:xfrm>
            <a:off x="8089900" y="3911600"/>
            <a:ext cx="3683000" cy="11684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E95D48"/>
                </a:solidFill>
              </a:rPr>
              <a:t>Forward secrecy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Ephemeral keys, rotated during the connection</a:t>
            </a:r>
          </a:p>
        </p:txBody>
      </p:sp>
      <p:sp>
        <p:nvSpPr>
          <p:cNvPr id="107" name="Box"/>
          <p:cNvSpPr/>
          <p:nvPr/>
        </p:nvSpPr>
        <p:spPr>
          <a:xfrm>
            <a:off x="419100" y="5232400"/>
            <a:ext cx="11353800" cy="11430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55555F"/>
            </a:solidFill>
          </a:ln>
        </p:spPr>
        <p:txBody>
          <a:bodyPr lIns="152400" tIns="114300" rIns="152400" bIns="114300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Why Wireshark can still read the start of a QUIC connection</a:t>
            </a:r>
          </a:p>
          <a:p>
            <a:pPr algn="l">
              <a:buNone/>
            </a:pPr>
            <a:r>
              <a:rPr lang="en-US" sz="1500" b="0" dirty="0">
                <a:solidFill>
                  <a:srgbClr val="F9EFEC"/>
                </a:solidFill>
              </a:rPr>
              <a:t>Initial packets use keys derived from the Connection ID, so they are encrypted but not secret. That is why Wireshark can show the ClientHello with no key file at all.</a:t>
            </a:r>
          </a:p>
        </p:txBody>
      </p:sp>
    </p:spTree>
    <p:extLst>
      <p:ext uri="{BB962C8B-B14F-4D97-AF65-F5344CB8AC3E}">
        <p14:creationId xmlns:p14="http://schemas.microsoft.com/office/powerpoint/2010/main" val="221520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E5E6-FF25-59DA-75C0-1BFD71F5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Threats and mitigations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36C842-D1C1-4288-89D6-45C34A4C1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763442"/>
              </p:ext>
            </p:extLst>
          </p:nvPr>
        </p:nvGraphicFramePr>
        <p:xfrm>
          <a:off x="419100" y="2184400"/>
          <a:ext cx="113538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602309386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8367225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40912252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Threat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What happens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6151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0-RTT replay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Captured early data can be resent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Only allow safe, repeatable requests in 0-RTT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88579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Amplification attack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Spoofed IP triggers an oversized reply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3x response cap plus 1200 byte padded Initials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411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Handshake flooding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Many fake requests burn server CPU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Retry tokens validate the address first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2353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UDP flooding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Raw volume attack on port 443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QUIC aware DDoS scrubbing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341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User tracking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Reusing a Connection ID links two IPs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Fresh Connection ID on migration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053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Implementation bugs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Design is sound but a given library may not be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4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Fuzzing, patching, interop testing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35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07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8F99-CFCE-9728-DD51-29F359909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905000"/>
            <a:ext cx="10160000" cy="1397000"/>
          </a:xfrm>
        </p:spPr>
        <p:txBody>
          <a:bodyPr>
            <a:normAutofit/>
          </a:bodyPr>
          <a:lstStyle/>
          <a:p>
            <a:r>
              <a:rPr lang="en-AU" sz="4000" b="1"/>
              <a:t>Live demo: Wireshark, QUIC vs TCP plus TLS</a:t>
            </a:r>
          </a:p>
        </p:txBody>
      </p:sp>
      <p:sp>
        <p:nvSpPr>
          <p:cNvPr id="100" name="Panel"/>
          <p:cNvSpPr/>
          <p:nvPr/>
        </p:nvSpPr>
        <p:spPr>
          <a:xfrm>
            <a:off x="419100" y="3530600"/>
            <a:ext cx="9652000" cy="939800"/>
          </a:xfrm>
          <a:prstGeom prst="roundRect">
            <a:avLst>
              <a:gd name="adj" fmla="val 6000"/>
            </a:avLst>
          </a:prstGeom>
          <a:solidFill>
            <a:srgbClr val="09090C">
              <a:alpha val="78000"/>
            </a:srgbClr>
          </a:solidFill>
          <a:ln>
            <a:noFill/>
          </a:ln>
        </p:spPr>
        <p:txBody>
          <a:bodyPr lIns="152400" tIns="91440" rIns="152400" bIns="91440" anchor="ctr">
            <a:normAutofit/>
          </a:bodyPr>
          <a:lstStyle/>
          <a:p>
            <a:pPr algn="l">
              <a:buNone/>
            </a:pPr>
            <a:r>
              <a:rPr lang="en-US" sz="1600" b="0" dirty="0">
                <a:solidFill>
                  <a:srgbClr val="F9EFEC"/>
                </a:solidFill>
              </a:rPr>
              <a:t>Capturing a live handshake, decrypting HTTP/3 with a TLS key log, and comparing round trips against a TCP capture.</a:t>
            </a:r>
          </a:p>
        </p:txBody>
      </p:sp>
      <p:sp>
        <p:nvSpPr>
          <p:cNvPr id="101" name="Panel"/>
          <p:cNvSpPr/>
          <p:nvPr/>
        </p:nvSpPr>
        <p:spPr>
          <a:xfrm>
            <a:off x="419100" y="48514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9090C">
              <a:alpha val="78000"/>
            </a:srgbClr>
          </a:solidFill>
          <a:ln>
            <a:noFill/>
          </a:ln>
        </p:spPr>
        <p:txBody>
          <a:bodyPr lIns="152400" tIns="91440" rIns="15240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1</a:t>
            </a:r>
          </a:p>
          <a:p>
            <a:pPr algn="l">
              <a:buNone/>
            </a:pPr>
            <a:r>
              <a:rPr lang="en-US" sz="1500" b="1" dirty="0">
                <a:solidFill>
                  <a:srgbClr val="F9EFEC"/>
                </a:solidFill>
              </a:rPr>
              <a:t>No 3-way handshake</a:t>
            </a:r>
          </a:p>
        </p:txBody>
      </p:sp>
      <p:sp>
        <p:nvSpPr>
          <p:cNvPr id="102" name="Panel"/>
          <p:cNvSpPr/>
          <p:nvPr/>
        </p:nvSpPr>
        <p:spPr>
          <a:xfrm>
            <a:off x="3289300" y="48514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9090C">
              <a:alpha val="78000"/>
            </a:srgbClr>
          </a:solidFill>
          <a:ln>
            <a:noFill/>
          </a:ln>
        </p:spPr>
        <p:txBody>
          <a:bodyPr lIns="152400" tIns="91440" rIns="15240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2</a:t>
            </a:r>
          </a:p>
          <a:p>
            <a:pPr algn="l">
              <a:buNone/>
            </a:pPr>
            <a:r>
              <a:rPr lang="en-US" sz="1500" b="1" dirty="0">
                <a:solidFill>
                  <a:srgbClr val="F9EFEC"/>
                </a:solidFill>
              </a:rPr>
              <a:t>Read the ClientHello</a:t>
            </a:r>
          </a:p>
        </p:txBody>
      </p:sp>
      <p:sp>
        <p:nvSpPr>
          <p:cNvPr id="103" name="Panel"/>
          <p:cNvSpPr/>
          <p:nvPr/>
        </p:nvSpPr>
        <p:spPr>
          <a:xfrm>
            <a:off x="6159500" y="48514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9090C">
              <a:alpha val="78000"/>
            </a:srgbClr>
          </a:solidFill>
          <a:ln>
            <a:noFill/>
          </a:ln>
        </p:spPr>
        <p:txBody>
          <a:bodyPr lIns="152400" tIns="91440" rIns="15240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3</a:t>
            </a:r>
          </a:p>
          <a:p>
            <a:pPr algn="l">
              <a:buNone/>
            </a:pPr>
            <a:r>
              <a:rPr lang="en-US" sz="1500" b="1" dirty="0">
                <a:solidFill>
                  <a:srgbClr val="F9EFEC"/>
                </a:solidFill>
              </a:rPr>
              <a:t>Short header is opaque</a:t>
            </a:r>
          </a:p>
        </p:txBody>
      </p:sp>
      <p:sp>
        <p:nvSpPr>
          <p:cNvPr id="104" name="Panel"/>
          <p:cNvSpPr/>
          <p:nvPr/>
        </p:nvSpPr>
        <p:spPr>
          <a:xfrm>
            <a:off x="9029700" y="48514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9090C">
              <a:alpha val="78000"/>
            </a:srgbClr>
          </a:solidFill>
          <a:ln>
            <a:noFill/>
          </a:ln>
        </p:spPr>
        <p:txBody>
          <a:bodyPr lIns="152400" tIns="91440" rIns="15240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08E6B"/>
                </a:solidFill>
              </a:rPr>
              <a:t>4</a:t>
            </a:r>
          </a:p>
          <a:p>
            <a:pPr algn="l">
              <a:buNone/>
            </a:pPr>
            <a:r>
              <a:rPr lang="en-US" sz="1500" b="1" dirty="0">
                <a:solidFill>
                  <a:srgbClr val="F9EFEC"/>
                </a:solidFill>
              </a:rPr>
              <a:t>Decrypt HTTP/3</a:t>
            </a:r>
          </a:p>
        </p:txBody>
      </p:sp>
    </p:spTree>
    <p:extLst>
      <p:ext uri="{BB962C8B-B14F-4D97-AF65-F5344CB8AC3E}">
        <p14:creationId xmlns:p14="http://schemas.microsoft.com/office/powerpoint/2010/main" val="201912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6EFD-20D5-D54C-F54F-0A882C64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Applications of QUIC</a:t>
            </a:r>
          </a:p>
        </p:txBody>
      </p:sp>
      <p:sp>
        <p:nvSpPr>
          <p:cNvPr id="100" name="Box"/>
          <p:cNvSpPr/>
          <p:nvPr/>
        </p:nvSpPr>
        <p:spPr>
          <a:xfrm>
            <a:off x="419100" y="2184400"/>
            <a:ext cx="3683000" cy="13208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CB49B2"/>
                </a:solidFill>
              </a:rPr>
              <a:t>HTTP/3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The web. No head of line blocking, faster setup.</a:t>
            </a:r>
          </a:p>
        </p:txBody>
      </p:sp>
      <p:sp>
        <p:nvSpPr>
          <p:cNvPr id="101" name="Box"/>
          <p:cNvSpPr/>
          <p:nvPr/>
        </p:nvSpPr>
        <p:spPr>
          <a:xfrm>
            <a:off x="4254500" y="2184400"/>
            <a:ext cx="3683000" cy="13208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CB49B2"/>
                </a:solidFill>
              </a:rPr>
              <a:t>DNS over QUIC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RFC 9250. Encrypted DNS that is still fast, with spoofing protection.</a:t>
            </a:r>
          </a:p>
        </p:txBody>
      </p:sp>
      <p:sp>
        <p:nvSpPr>
          <p:cNvPr id="102" name="Box"/>
          <p:cNvSpPr/>
          <p:nvPr/>
        </p:nvSpPr>
        <p:spPr>
          <a:xfrm>
            <a:off x="8089900" y="2184400"/>
            <a:ext cx="3683000" cy="13208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7C3191"/>
                </a:solidFill>
              </a:rPr>
              <a:t>SMB over QUIC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Windows file shares over the internet, no VPN needed.</a:t>
            </a:r>
          </a:p>
        </p:txBody>
      </p:sp>
      <p:sp>
        <p:nvSpPr>
          <p:cNvPr id="103" name="Box"/>
          <p:cNvSpPr/>
          <p:nvPr/>
        </p:nvSpPr>
        <p:spPr>
          <a:xfrm>
            <a:off x="419100" y="3632200"/>
            <a:ext cx="3683000" cy="13208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7C3191"/>
                </a:solidFill>
              </a:rPr>
              <a:t>WebTransport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Modern replacement for WebSockets in the browser.</a:t>
            </a:r>
          </a:p>
        </p:txBody>
      </p:sp>
      <p:sp>
        <p:nvSpPr>
          <p:cNvPr id="104" name="Box"/>
          <p:cNvSpPr/>
          <p:nvPr/>
        </p:nvSpPr>
        <p:spPr>
          <a:xfrm>
            <a:off x="4254500" y="3632200"/>
            <a:ext cx="3683000" cy="13208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E95D48"/>
                </a:solidFill>
              </a:rPr>
              <a:t>MASQUE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VPN style tunnels. Used by iCloud Private Relay and Cloudflare WARP.</a:t>
            </a:r>
          </a:p>
        </p:txBody>
      </p:sp>
      <p:sp>
        <p:nvSpPr>
          <p:cNvPr id="105" name="Box"/>
          <p:cNvSpPr/>
          <p:nvPr/>
        </p:nvSpPr>
        <p:spPr>
          <a:xfrm>
            <a:off x="8089900" y="3632200"/>
            <a:ext cx="3683000" cy="1320800"/>
          </a:xfrm>
          <a:prstGeom prst="roundRect">
            <a:avLst>
              <a:gd name="adj" fmla="val 6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E95D48"/>
                </a:solidFill>
              </a:rPr>
              <a:t>Video platforms</a:t>
            </a:r>
          </a:p>
          <a:p>
            <a:pPr algn="l">
              <a:buNone/>
            </a:pPr>
            <a:r>
              <a:rPr lang="en-US" sz="1400" b="0" dirty="0">
                <a:solidFill>
                  <a:srgbClr val="3A3A40"/>
                </a:solidFill>
              </a:rPr>
              <a:t>YouTube, Instagram, Facebook. Fewer rebuffer stalls.</a:t>
            </a:r>
          </a:p>
        </p:txBody>
      </p:sp>
      <p:sp>
        <p:nvSpPr>
          <p:cNvPr id="106" name="Box"/>
          <p:cNvSpPr/>
          <p:nvPr/>
        </p:nvSpPr>
        <p:spPr>
          <a:xfrm>
            <a:off x="419100" y="5130800"/>
            <a:ext cx="11353800" cy="6858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55555F"/>
            </a:solidFill>
          </a:ln>
        </p:spPr>
        <p:txBody>
          <a:bodyPr lIns="152400" tIns="114300" rIns="152400" bIns="114300" anchor="ctr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F9EFEC"/>
                </a:solidFill>
              </a:rPr>
              <a:t>Don't assume every QUIC flow is HTTP/3. A lot of things share UDP 443 now.</a:t>
            </a:r>
          </a:p>
        </p:txBody>
      </p:sp>
    </p:spTree>
    <p:extLst>
      <p:ext uri="{BB962C8B-B14F-4D97-AF65-F5344CB8AC3E}">
        <p14:creationId xmlns:p14="http://schemas.microsoft.com/office/powerpoint/2010/main" val="183085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803-D891-FD53-9EA7-AE9414AC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Scalability</a:t>
            </a:r>
          </a:p>
        </p:txBody>
      </p:sp>
      <p:sp>
        <p:nvSpPr>
          <p:cNvPr id="120" name="Box"/>
          <p:cNvSpPr/>
          <p:nvPr/>
        </p:nvSpPr>
        <p:spPr>
          <a:xfrm>
            <a:off x="419100" y="2235200"/>
            <a:ext cx="3657600" cy="21590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71450" tIns="152400" rIns="171450" bIns="152400" anchor="t"/>
          <a:lstStyle/>
          <a:p>
            <a:pPr algn="l">
              <a:buNone/>
            </a:pPr>
            <a:r>
              <a:rPr lang="en-US" sz="1900" b="1" i="0" dirty="0">
                <a:solidFill>
                  <a:srgbClr val="CB49B2"/>
                </a:solidFill>
              </a:rPr>
              <a:t>Per connection</a:t>
            </a:r>
          </a:p>
          <a:p>
            <a:pPr algn="l">
              <a:buNone/>
            </a:pPr>
            <a:r>
              <a:rPr lang="en-US" sz="1500" b="0" i="1" dirty="0">
                <a:solidFill>
                  <a:srgbClr val="3A3A40"/>
                </a:solidFill>
              </a:rPr>
              <a:t>Where QUIC wins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Many streams on one connection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Two level flow control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One handshake replaces six TCP connections</a:t>
            </a:r>
          </a:p>
        </p:txBody>
      </p:sp>
      <p:sp>
        <p:nvSpPr>
          <p:cNvPr id="121" name="Box"/>
          <p:cNvSpPr/>
          <p:nvPr/>
        </p:nvSpPr>
        <p:spPr>
          <a:xfrm>
            <a:off x="4267200" y="2235200"/>
            <a:ext cx="3657600" cy="21590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71450" tIns="152400" rIns="171450" bIns="152400" anchor="t"/>
          <a:lstStyle/>
          <a:p>
            <a:pPr algn="l">
              <a:buNone/>
            </a:pPr>
            <a:r>
              <a:rPr lang="en-US" sz="1900" b="1" i="0" dirty="0">
                <a:solidFill>
                  <a:srgbClr val="E95D48"/>
                </a:solidFill>
              </a:rPr>
              <a:t>Per server</a:t>
            </a:r>
          </a:p>
          <a:p>
            <a:pPr algn="l">
              <a:buNone/>
            </a:pPr>
            <a:r>
              <a:rPr lang="en-US" sz="1500" b="0" i="1" dirty="0">
                <a:solidFill>
                  <a:srgbClr val="3A3A40"/>
                </a:solidFill>
              </a:rPr>
              <a:t>This is the weak point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Higher CPU per packet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Every packet is encrypted on its own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Fixed with batching and UDP offload (GSO)</a:t>
            </a:r>
          </a:p>
        </p:txBody>
      </p:sp>
      <p:sp>
        <p:nvSpPr>
          <p:cNvPr id="122" name="Box"/>
          <p:cNvSpPr/>
          <p:nvPr/>
        </p:nvSpPr>
        <p:spPr>
          <a:xfrm>
            <a:off x="8115300" y="2235200"/>
            <a:ext cx="3657600" cy="21590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71450" tIns="152400" rIns="171450" bIns="152400" anchor="t"/>
          <a:lstStyle/>
          <a:p>
            <a:pPr algn="l">
              <a:buNone/>
            </a:pPr>
            <a:r>
              <a:rPr lang="en-US" sz="1900" b="1" i="0" dirty="0">
                <a:solidFill>
                  <a:srgbClr val="7C3191"/>
                </a:solidFill>
              </a:rPr>
              <a:t>Infrastructure</a:t>
            </a:r>
          </a:p>
          <a:p>
            <a:pPr algn="l">
              <a:buNone/>
            </a:pPr>
            <a:r>
              <a:rPr lang="en-US" sz="1500" b="0" i="1" dirty="0">
                <a:solidFill>
                  <a:srgbClr val="3A3A40"/>
                </a:solidFill>
              </a:rPr>
              <a:t>Where it stays flexible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Load balancers route on Connection ID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Routing survives client IP changes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09090C"/>
                </a:solidFill>
              </a:rPr>
              <a:t>Fixes ship as a software release, not an OS update</a:t>
            </a:r>
          </a:p>
        </p:txBody>
      </p:sp>
      <p:sp>
        <p:nvSpPr>
          <p:cNvPr id="123" name="Box"/>
          <p:cNvSpPr/>
          <p:nvPr/>
        </p:nvSpPr>
        <p:spPr>
          <a:xfrm>
            <a:off x="419100" y="4749800"/>
            <a:ext cx="11353800" cy="12192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55555F"/>
            </a:solidFill>
          </a:ln>
        </p:spPr>
        <p:txBody>
          <a:bodyPr lIns="171450" tIns="152400" rIns="171450" bIns="152400" anchor="ctr"/>
          <a:lstStyle/>
          <a:p>
            <a:pPr algn="l">
              <a:buNone/>
            </a:pPr>
            <a:r>
              <a:rPr lang="en-US" sz="1600" b="0" i="0" dirty="0">
                <a:solidFill>
                  <a:srgbClr val="F9EFEC"/>
                </a:solidFill>
              </a:rPr>
              <a:t>One handshake, many streams. The cost moves off the network and onto the server CPU.</a:t>
            </a:r>
          </a:p>
        </p:txBody>
      </p:sp>
    </p:spTree>
    <p:extLst>
      <p:ext uri="{BB962C8B-B14F-4D97-AF65-F5344CB8AC3E}">
        <p14:creationId xmlns:p14="http://schemas.microsoft.com/office/powerpoint/2010/main" val="3880500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3F8A-DAA4-6115-2256-70B11636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/>
              <a:t>QUIC vs TCP, captured evidence</a:t>
            </a:r>
            <a:endParaRPr lang="en-AU" sz="32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DD730C-908F-4BDE-9D22-5688309A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840342"/>
              </p:ext>
            </p:extLst>
          </p:nvPr>
        </p:nvGraphicFramePr>
        <p:xfrm>
          <a:off x="419100" y="2235200"/>
          <a:ext cx="113538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81755109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539294737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28631615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Metric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TCP + TLS 1.3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QUIC</a:t>
                      </a:r>
                    </a:p>
                  </a:txBody>
                  <a:tcPr anchor="ctr">
                    <a:solidFill>
                      <a:srgbClr val="7C3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0767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Packets before first app data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[my capture]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[my capture]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55195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Round trips before first data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 dirty="0">
                          <a:solidFill>
                            <a:srgbClr val="09090C"/>
                          </a:solidFill>
                          <a:latin typeface="Neue Haas Grotesk Text Pro"/>
                        </a:rPr>
                        <a:t>2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1 (0 if resumed)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1384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Time to first byte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[measure]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[measure]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060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Header visible on the wire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Fully visible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About 1 byte plus Connection ID</a:t>
                      </a:r>
                    </a:p>
                  </a:txBody>
                  <a:tcPr anchor="ctr">
                    <a:solidFill>
                      <a:srgbClr val="F1E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9308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AU" sz="1500" b="1">
                          <a:solidFill>
                            <a:srgbClr val="09090C"/>
                          </a:solidFill>
                          <a:latin typeface="Neue Haas Grotesk Text Pro"/>
                        </a:rPr>
                        <a:t>Connection close visible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>
                          <a:solidFill>
                            <a:srgbClr val="09090C"/>
                          </a:solidFill>
                          <a:latin typeface="Neue Haas Grotesk Text Pro"/>
                        </a:rPr>
                        <a:t>FIN/RST in cleartext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500" b="0" dirty="0">
                          <a:solidFill>
                            <a:srgbClr val="09090C"/>
                          </a:solidFill>
                          <a:latin typeface="Neue Haas Grotesk Text Pro"/>
                        </a:rPr>
                        <a:t>Encrypted frame</a:t>
                      </a:r>
                    </a:p>
                  </a:txBody>
                  <a:tcPr anchor="ctr">
                    <a:solidFill>
                      <a:srgbClr val="F9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539839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284361-96CF-482C-AA0C-91B5855E4ADD}"/>
              </a:ext>
            </a:extLst>
          </p:cNvPr>
          <p:cNvSpPr/>
          <p:nvPr/>
        </p:nvSpPr>
        <p:spPr>
          <a:xfrm>
            <a:off x="419100" y="5537200"/>
            <a:ext cx="11353800" cy="711200"/>
          </a:xfrm>
          <a:prstGeom prst="roundRect">
            <a:avLst/>
          </a:prstGeom>
          <a:noFill/>
          <a:ln w="12700" cap="flat" cmpd="sng" algn="ctr">
            <a:solidFill>
              <a:srgbClr val="55555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GB" sz="1500">
                <a:solidFill>
                  <a:srgbClr val="F9EFEC"/>
                </a:solidFill>
                <a:latin typeface="Neue Haas Grotesk Text Pro"/>
              </a:rPr>
              <a:t>I fill the bracketed values in from my own Wireshark capture just before recording.</a:t>
            </a:r>
            <a:endParaRPr lang="en-AU" sz="1500">
              <a:solidFill>
                <a:srgbClr val="F9EFEC"/>
              </a:solidFill>
              <a:latin typeface="Neue Haas Grotesk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406557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D692-E63E-B999-039D-E79FE452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b="1"/>
              <a:t>Wrap up</a:t>
            </a:r>
          </a:p>
        </p:txBody>
      </p:sp>
      <p:sp>
        <p:nvSpPr>
          <p:cNvPr id="100" name="Box"/>
          <p:cNvSpPr/>
          <p:nvPr/>
        </p:nvSpPr>
        <p:spPr>
          <a:xfrm>
            <a:off x="419100" y="2159000"/>
            <a:ext cx="3657600" cy="17272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/>
          <a:lstStyle/>
          <a:p>
            <a:pPr algn="l">
              <a:buNone/>
            </a:pPr>
            <a:r>
              <a:rPr lang="en-US" sz="2400" b="1" dirty="0">
                <a:solidFill>
                  <a:srgbClr val="CB49B2"/>
                </a:solidFill>
              </a:rPr>
              <a:t>1</a:t>
            </a:r>
          </a:p>
          <a:p>
            <a:pPr algn="l">
              <a:buNone/>
            </a:pPr>
            <a:r>
              <a:rPr lang="en-US" sz="1600" b="0" dirty="0">
                <a:solidFill>
                  <a:srgbClr val="09090C"/>
                </a:solidFill>
              </a:rPr>
              <a:t>QUIC isn't a faster TCP. It merges the transport and security handshakes into one.</a:t>
            </a:r>
          </a:p>
        </p:txBody>
      </p:sp>
      <p:sp>
        <p:nvSpPr>
          <p:cNvPr id="101" name="Box"/>
          <p:cNvSpPr/>
          <p:nvPr/>
        </p:nvSpPr>
        <p:spPr>
          <a:xfrm>
            <a:off x="4267200" y="2159000"/>
            <a:ext cx="3657600" cy="17272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/>
          <a:lstStyle/>
          <a:p>
            <a:pPr algn="l">
              <a:buNone/>
            </a:pPr>
            <a:r>
              <a:rPr lang="en-US" sz="2400" b="1" dirty="0">
                <a:solidFill>
                  <a:srgbClr val="CB49B2"/>
                </a:solidFill>
              </a:rPr>
              <a:t>2</a:t>
            </a:r>
          </a:p>
          <a:p>
            <a:pPr algn="l">
              <a:buNone/>
            </a:pPr>
            <a:r>
              <a:rPr lang="en-US" sz="1600" b="0" dirty="0">
                <a:solidFill>
                  <a:srgbClr val="09090C"/>
                </a:solidFill>
              </a:rPr>
              <a:t>Its biggest strength is also its biggest cost. Encrypting the header buys security but loses network visibility.</a:t>
            </a:r>
          </a:p>
        </p:txBody>
      </p:sp>
      <p:sp>
        <p:nvSpPr>
          <p:cNvPr id="102" name="Box"/>
          <p:cNvSpPr/>
          <p:nvPr/>
        </p:nvSpPr>
        <p:spPr>
          <a:xfrm>
            <a:off x="8115300" y="2159000"/>
            <a:ext cx="3657600" cy="1727200"/>
          </a:xfrm>
          <a:prstGeom prst="roundRect">
            <a:avLst>
              <a:gd name="adj" fmla="val 5000"/>
            </a:avLst>
          </a:prstGeom>
          <a:solidFill>
            <a:srgbClr val="F9EFEC"/>
          </a:solidFill>
          <a:ln>
            <a:noFill/>
          </a:ln>
        </p:spPr>
        <p:txBody>
          <a:bodyPr lIns="152400" tIns="114300" rIns="152400" bIns="114300" anchor="t"/>
          <a:lstStyle/>
          <a:p>
            <a:pPr algn="l">
              <a:buNone/>
            </a:pPr>
            <a:r>
              <a:rPr lang="en-US" sz="2400" b="1" dirty="0">
                <a:solidFill>
                  <a:srgbClr val="CB49B2"/>
                </a:solidFill>
              </a:rPr>
              <a:t>3</a:t>
            </a:r>
          </a:p>
          <a:p>
            <a:pPr algn="l">
              <a:buNone/>
            </a:pPr>
            <a:r>
              <a:rPr lang="en-US" sz="1600" b="0" dirty="0">
                <a:solidFill>
                  <a:srgbClr val="09090C"/>
                </a:solidFill>
              </a:rPr>
              <a:t>Most real QUIC risk comes from deployment gaps and library bugs, not the underlying cryptography.</a:t>
            </a:r>
          </a:p>
        </p:txBody>
      </p:sp>
      <p:sp>
        <p:nvSpPr>
          <p:cNvPr id="103" name="Box"/>
          <p:cNvSpPr/>
          <p:nvPr/>
        </p:nvSpPr>
        <p:spPr>
          <a:xfrm>
            <a:off x="419100" y="4140200"/>
            <a:ext cx="11353800" cy="22606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  <p:txBody>
          <a:bodyPr lIns="0" tIns="0" rIns="152400" bIns="114300" anchor="t"/>
          <a:lstStyle/>
          <a:p>
            <a:pPr algn="l">
              <a:buNone/>
            </a:pPr>
            <a:r>
              <a:rPr lang="en-US" sz="1400" b="1" dirty="0">
                <a:solidFill>
                  <a:srgbClr val="F9EFEC"/>
                </a:solidFill>
              </a:rPr>
              <a:t>References</a:t>
            </a:r>
          </a:p>
          <a:p>
            <a:pPr algn="l">
              <a:buNone/>
            </a:pPr>
            <a:r>
              <a:rPr lang="en-US" sz="1250" b="0" dirty="0">
                <a:solidFill>
                  <a:srgbClr val="D9D2D0"/>
                </a:solidFill>
              </a:rPr>
              <a:t>[1] J. Iyengar and M. Thomson, Eds., "QUIC: A UDP-based multiplexed and secure transport," RFC 9000, IETF, May 2021.</a:t>
            </a:r>
          </a:p>
          <a:p>
            <a:pPr algn="l">
              <a:buNone/>
            </a:pPr>
            <a:r>
              <a:rPr lang="en-US" sz="1250" b="0" dirty="0">
                <a:solidFill>
                  <a:srgbClr val="D9D2D0"/>
                </a:solidFill>
              </a:rPr>
              <a:t>[2] M. Thomson and S. Turner, Eds., "Using TLS to secure QUIC," RFC 9001, IETF, May 2021.</a:t>
            </a:r>
          </a:p>
          <a:p>
            <a:pPr algn="l">
              <a:buNone/>
            </a:pPr>
            <a:r>
              <a:rPr lang="en-US" sz="1250" b="0" dirty="0">
                <a:solidFill>
                  <a:srgbClr val="D9D2D0"/>
                </a:solidFill>
              </a:rPr>
              <a:t>[3] A. Langley et al., "The QUIC transport protocol: Design and Internet-scale deployment," in Proc. ACM SIGCOMM, 2017, pp. 183 to 196.</a:t>
            </a:r>
          </a:p>
          <a:p>
            <a:pPr algn="l">
              <a:buNone/>
            </a:pPr>
            <a:r>
              <a:rPr lang="en-US" sz="1250" b="0" dirty="0">
                <a:solidFill>
                  <a:srgbClr val="D9D2D0"/>
                </a:solidFill>
              </a:rPr>
              <a:t>[4] M. Kuhlewind and B. Trammell, "Manageability of the QUIC transport protocol," RFC 9312, IETF, Sep. 2022.</a:t>
            </a:r>
          </a:p>
          <a:p>
            <a:pPr algn="l">
              <a:buNone/>
            </a:pPr>
            <a:r>
              <a:rPr lang="en-US" sz="1250" b="0" dirty="0">
                <a:solidFill>
                  <a:srgbClr val="D9D2D0"/>
                </a:solidFill>
              </a:rPr>
              <a:t>[5] E. Chatzoglou et al., "Revisiting QUIC attacks: A comprehensive review on QUIC security and a hands-on study," Int. J. Inf. Secur., vol. 22, no. 2, pp. 347 to 365, 2023.</a:t>
            </a:r>
          </a:p>
          <a:p>
            <a:pPr algn="l">
              <a:buNone/>
            </a:pPr>
            <a:r>
              <a:rPr lang="en-US" sz="1250" b="0" dirty="0">
                <a:solidFill>
                  <a:srgbClr val="D9D2D0"/>
                </a:solidFill>
              </a:rPr>
              <a:t>[6] W3Techs, "Usage statistics of HTTP/3 for websites," 2026. Available: w3techs.com</a:t>
            </a:r>
          </a:p>
        </p:txBody>
      </p:sp>
    </p:spTree>
    <p:extLst>
      <p:ext uri="{BB962C8B-B14F-4D97-AF65-F5344CB8AC3E}">
        <p14:creationId xmlns:p14="http://schemas.microsoft.com/office/powerpoint/2010/main" val="2606438611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c350fa-c2cb-4cf9-ac4c-81dce01721d7}">
  <we:reference id="WA200010001" version="1.0.0.1" store="en-US" storeType="OMEX"/>
  <we:alternateReferences/>
  <we:properties>
    <we:property name="Microsoft.Office.CampaignId" value="&quot;none&quot;"/>
    <we:property name="claude.fileId" value="&quot;d6c69f36-1754-40b1-9a2a-e42924bcfe5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1584</TotalTime>
  <Words>1132</Words>
  <Application>Microsoft Office PowerPoint</Application>
  <PresentationFormat>Widescreen</PresentationFormat>
  <Paragraphs>183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Film Burn</vt:lpstr>
      <vt:lpstr>QUIC: A UDP-Based Multiplexed and Secure Transport</vt:lpstr>
      <vt:lpstr>Why do we need QUIC?</vt:lpstr>
      <vt:lpstr>What is QUIC?</vt:lpstr>
      <vt:lpstr>Packets and frames</vt:lpstr>
      <vt:lpstr>Key frame types</vt:lpstr>
      <vt:lpstr>Cryptographic mechanisms</vt:lpstr>
      <vt:lpstr>Threats and mitigations</vt:lpstr>
      <vt:lpstr>Live demo: Wireshark, QUIC vs TCP plus TLS</vt:lpstr>
      <vt:lpstr>Applications of QUIC</vt:lpstr>
      <vt:lpstr>Scalability</vt:lpstr>
      <vt:lpstr>QUIC vs TCP, captured evidence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HIRUSHA ADIKARI MUDIYANSELAGE</cp:lastModifiedBy>
  <cp:revision>6</cp:revision>
  <dcterms:created xsi:type="dcterms:W3CDTF">2018-06-07T21:39:02Z</dcterms:created>
  <dcterms:modified xsi:type="dcterms:W3CDTF">2026-08-19T14:38:45Z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